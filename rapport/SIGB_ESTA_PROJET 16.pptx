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 snapToObjects="1">
      <p:cViewPr>
        <p:scale>
          <a:sx n="100" d="100"/>
          <a:sy n="100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542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31635"/>
            <a:ext cx="8229600" cy="0"/>
          </a:xfrm>
          <a:prstGeom prst="line">
            <a:avLst/>
          </a:prstGeom>
          <a:noFill/>
          <a:ln w="1905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86948"/>
            <a:ext cx="8595360" cy="1453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076323"/>
            <a:ext cx="8595360" cy="1567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Intégré de Gestion de Bibliothèque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0" y="3151844"/>
            <a:ext cx="4572000" cy="0"/>
          </a:xfrm>
          <a:prstGeom prst="line">
            <a:avLst/>
          </a:prstGeom>
          <a:noFill/>
          <a:ln w="12700">
            <a:solidFill>
              <a:srgbClr val="E07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520" y="3413579"/>
            <a:ext cx="8595360" cy="657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OUATTARA Koniba W. Auguste Elvis  &amp;  KOUSSOUBE Drissa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993944"/>
            <a:ext cx="8595360" cy="536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M. ILBOUDO A.   Année académique 2025-2026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Réalisation   Groupe 16</a:t>
            </a:r>
            <a:endParaRPr lang="en-US" sz="11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EE7768C-E127-8A0D-094A-AB83E09EF22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4810" y="613177"/>
            <a:ext cx="2631440" cy="907415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332A7E0E-73A8-39DE-99EE-11995223DCDE}"/>
              </a:ext>
            </a:extLst>
          </p:cNvPr>
          <p:cNvSpPr/>
          <p:nvPr/>
        </p:nvSpPr>
        <p:spPr>
          <a:xfrm>
            <a:off x="426720" y="3040912"/>
            <a:ext cx="8595360" cy="87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4306CC6-94FB-0F9A-2693-A51738F66C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751" y="628046"/>
            <a:ext cx="1905000" cy="90741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8B96D190-45B5-2362-DC09-DAAB5CA428BC}"/>
              </a:ext>
            </a:extLst>
          </p:cNvPr>
          <p:cNvSpPr/>
          <p:nvPr/>
        </p:nvSpPr>
        <p:spPr>
          <a:xfrm>
            <a:off x="5746596" y="185040"/>
            <a:ext cx="2442860" cy="150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10C297B-8AA8-B085-4D49-F979EF05645C}"/>
              </a:ext>
            </a:extLst>
          </p:cNvPr>
          <p:cNvSpPr/>
          <p:nvPr/>
        </p:nvSpPr>
        <p:spPr>
          <a:xfrm>
            <a:off x="5270809" y="372862"/>
            <a:ext cx="3643476" cy="204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La Partie ou la Mort nous Vaincrons</a:t>
            </a:r>
            <a:endParaRPr lang="en-US" sz="12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7772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73152" cy="7772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Spécifications UML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46120"/>
            <a:ext cx="73152" cy="7772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918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291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2344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234440"/>
            <a:ext cx="73152" cy="7772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2801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1280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Modules Clés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240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240280"/>
            <a:ext cx="73152" cy="7772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86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286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actuelle à l'ESTA</a:t>
            </a:r>
            <a:endParaRPr lang="en-US" sz="1800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Actuelle &amp; Problème Identifié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4572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Incohérence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prêter un livre déjà réservé. Aucun contrôle de disponibilité en temps réel.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protection des données personnelles. Inscription sur fiche cartonnée.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68680"/>
            <a:ext cx="2743200" cy="4572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621792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Inefficacité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retards dépend de la mémoire du bibliothécaire. Processus long et fastidieux.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95360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49040"/>
            <a:ext cx="109728" cy="8686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6732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 système automatisé capable de sécuriser les accès, notifier en temps réel et piloter la bibliothèque ?</a:t>
            </a:r>
            <a:endParaRPr lang="en-US" sz="13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Spécifications UML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diagrammes produits</a:t>
            </a:r>
            <a:endParaRPr lang="en-US" sz="1800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Acteurs du Système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572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9601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441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publique du catalogue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4572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9601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3441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 (3 max), réservation, historique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48840"/>
            <a:ext cx="4572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402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6243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 étendu (5), réservation prioritaire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148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48840"/>
            <a:ext cx="4572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2402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Bibliothécaire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26243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prêts, retours, inventaire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29000"/>
            <a:ext cx="457200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204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9044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utilisateurs, sécurité, stats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429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429000"/>
            <a:ext cx="457200" cy="10972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5204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(Cron)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39044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rappels J-3, détection retards</a:t>
            </a:r>
            <a:endParaRPr lang="en-US" sz="11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</a:t>
            </a:r>
            <a:endParaRPr lang="en-US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A852EE-D833-B253-E45A-B5C88B209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74" y="903906"/>
            <a:ext cx="5591331" cy="418525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Séquence : Inscription &amp; Connexion 2FA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22960"/>
            <a:ext cx="4297680" cy="4114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822960"/>
            <a:ext cx="429768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4663440"/>
            <a:ext cx="429768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" y="4663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: Inscription + Vérification Email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663440" y="4663440"/>
            <a:ext cx="4297680" cy="3200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63440" y="4663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: Connexion Login + 2FA (TOTP)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Séquence : Cycle de Vie d'un Emprunt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: Vérifications quota, retards, disponibilité avant validation. Notification automatique post-retour.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Clés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Sécurité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19073"/>
            <a:ext cx="2286000" cy="3081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+ vérification email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TOTP (Google Auth)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27048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1615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+ vérification email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276856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026664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776472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65576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après 5 échecs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822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Emprunts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2209800"/>
            <a:ext cx="2286000" cy="259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: 3 étudiants / 5 enseignants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configurable (14j / 21j)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(2 max)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: 1 00 FCFA/jour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527048"/>
            <a:ext cx="109728" cy="109728"/>
          </a:xfrm>
          <a:prstGeom prst="ellipse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21615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: 3 étudiants / 5 enseignants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2276856"/>
            <a:ext cx="109728" cy="109728"/>
          </a:xfrm>
          <a:prstGeom prst="ellipse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196596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configurable (14j / 21j)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3026664"/>
            <a:ext cx="109728" cy="109728"/>
          </a:xfrm>
          <a:prstGeom prst="ellipse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776472"/>
            <a:ext cx="109728" cy="109728"/>
          </a:xfrm>
          <a:prstGeom prst="ellipse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0" name="Shape 28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822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1719072"/>
            <a:ext cx="2286000" cy="3081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prioritaire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automatique 48h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vers Emprunt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1527048"/>
            <a:ext cx="109728" cy="109728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21615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prioritaire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2276856"/>
            <a:ext cx="109728" cy="109728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96596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automatique 48h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63640" y="3026664"/>
            <a:ext cx="109728" cy="109728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776472"/>
            <a:ext cx="109728" cy="109728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465576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Enseignant &gt; Etudiant</a:t>
            </a:r>
            <a:endParaRPr lang="en-US" sz="115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d'Etats : Cycles de Vie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77240"/>
            <a:ext cx="4297680" cy="4114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777240"/>
            <a:ext cx="429768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4663440"/>
            <a:ext cx="429768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" y="4663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12 : Cycle de vie Emprunt (EN_COURS, EN_RETARD, RETOURNE, PERDU)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663440" y="4663440"/>
            <a:ext cx="4297680" cy="3200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63440" y="4663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13 : Cycle de vie Réservation (EN_ATTENTE, DISPONIBLE, CONFIRMEE, EXPIREE)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   19 entités et 8 énumérations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18 : Livre, Utilisateur, Rôle, Exemplaire, Emprunt, Réservation, Cotisation, Notification, Acquisition…</a:t>
            </a:r>
            <a:endParaRPr lang="en-US" sz="9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0DDC622-9981-94D3-78B1-5D14CCECF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01" y="746510"/>
            <a:ext cx="8844197" cy="38779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 justifiés</a:t>
            </a:r>
            <a:endParaRPr lang="en-US" sz="1800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53035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868680"/>
            <a:ext cx="3108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868680"/>
            <a:ext cx="73152" cy="548640"/>
          </a:xfrm>
          <a:prstGeom prst="rect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896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14300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536192"/>
            <a:ext cx="3108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536192"/>
            <a:ext cx="73152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5636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181051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203704"/>
            <a:ext cx="3108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203704"/>
            <a:ext cx="73152" cy="548640"/>
          </a:xfrm>
          <a:prstGeom prst="rect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2311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97880" y="247802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Desktop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2871216"/>
            <a:ext cx="3108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2871216"/>
            <a:ext cx="73152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2898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97880" y="314553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3538728"/>
            <a:ext cx="3108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3538728"/>
            <a:ext cx="73152" cy="548640"/>
          </a:xfrm>
          <a:prstGeom prst="rect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97880" y="381304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4206240"/>
            <a:ext cx="3108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760720" y="4206240"/>
            <a:ext cx="73152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42336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13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897880" y="448056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BDD</a:t>
            </a:r>
            <a:endParaRPr lang="en-US" sz="10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Relationnel (ERD) : Base de Données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23 : Relations clés : Utilisateur (1:N) Emprunt | Livre (1:N) Exemplaire | Exemplaire (1:N) Emprunt | Utilisateur (N:M) Rôle</a:t>
            </a:r>
            <a:endParaRPr lang="en-US" sz="900" dirty="0"/>
          </a:p>
        </p:txBody>
      </p:sp>
      <p:pic>
        <p:nvPicPr>
          <p:cNvPr id="9" name="Image 8" descr="Une image contenant texte, diagramme, capture d’écran, Police">
            <a:extLst>
              <a:ext uri="{FF2B5EF4-FFF2-40B4-BE49-F238E27FC236}">
                <a16:creationId xmlns:a16="http://schemas.microsoft.com/office/drawing/2014/main" id="{10807E7F-BA79-E53C-548B-9CC38B848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1" y="731520"/>
            <a:ext cx="8934138" cy="253633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7F8FDCB-E217-61DE-0DB5-8E65B7498E1B}"/>
              </a:ext>
            </a:extLst>
          </p:cNvPr>
          <p:cNvSpPr txBox="1"/>
          <p:nvPr/>
        </p:nvSpPr>
        <p:spPr>
          <a:xfrm>
            <a:off x="104932" y="3267858"/>
            <a:ext cx="89341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Description des relations clés : </a:t>
            </a:r>
          </a:p>
          <a:p>
            <a:r>
              <a:rPr lang="fr-FR" sz="1000" dirty="0"/>
              <a:t>• Utilisateur à Emprunt (1 : N) : Un utilisateur peut effectuer plusieurs emprunts, mais un emprunt est lié à un seul utilisateur. La table Emprunt contient uilisateur_id comme clé étrangère. </a:t>
            </a:r>
          </a:p>
          <a:p>
            <a:r>
              <a:rPr lang="fr-FR" sz="1000" dirty="0"/>
              <a:t>• Livre à Exemplaire (1 : N) : Un livre du catalogue peut posséder plusieurs exemplaires physiques. La table Exemplaire contient livre_id comme clé étrangère. </a:t>
            </a:r>
          </a:p>
          <a:p>
            <a:r>
              <a:rPr lang="fr-FR" sz="1000" dirty="0"/>
              <a:t>• Exemplaire à Emprunt (1 : N) : Un exemplaire physique peut être emprunté plusieurs fois au cours de sa vie (historique), mais un enregistrement d’emprunt spécifique concerne un seul exemplaire. La table Emprunt contient exemple_id comme clé étrangère. </a:t>
            </a:r>
          </a:p>
          <a:p>
            <a:r>
              <a:rPr lang="fr-FR" sz="1000" dirty="0"/>
              <a:t>• Utilisateur à Rôle ( N : M) : Géré via une table jointure Utilisateur_Role pour permettre ) un utilisateur d’avoir plusieurs rôles (exemple dans notre cas , nous avions : Bibliothécaire, Enseignant , Etudiant , Public , Administrateur).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 REST : Endpoints Principaux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114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Rôle Requis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/api/auth/register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Public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Inscription utilisateur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/api/auth/login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Public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Auth + génération JWT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/api/auth/2fa/verify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Token temporaire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Validation code TOTP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/api/livres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Public / Etudiant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Recherche multicritère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/api/emprunts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Bibliothécaire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Création emprunt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4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/api/emprunts/{id}/retour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Bibliothécaire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Retour exemplaire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/api/reservations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Etudiant / Enseignant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Réservation livre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/api/utilisateurs/{id}/historique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Etudiant / Admin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Historique emprunts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Modules Clés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et technologies</a:t>
            </a:r>
            <a:endParaRPr lang="en-US" sz="1800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des Modules Clés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1234440"/>
          </a:xfrm>
          <a:prstGeom prst="rect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8696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+ 2FA TOTP + Refresh Token + Verrouillage après 5 tentatives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73152" cy="12344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88696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Livres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234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+ recherche multicritère (titre, auteur, ISBN, catégorie, langue)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40280"/>
            <a:ext cx="73152" cy="12344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0428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2651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 quota, retards, abonnement. Pénalité 1 000 FCFA/jour. Renouvellement (2 max)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40280"/>
            <a:ext cx="73152" cy="1234440"/>
          </a:xfrm>
          <a:prstGeom prst="rect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30428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2651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prioritaire. Expiration 48h. Conversion automatique en emprunt.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E07B2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72160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4069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Cron 8h00 quotidien. Email, SMS prévu. Types : rappel, disponibilité, pénalité.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73152" cy="12344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72160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Périodiques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4069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revues, magazines, journaux scientifiques avec abonnements fournisseurs.</a:t>
            </a:r>
            <a:endParaRPr lang="en-US" sz="11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IV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Développement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745869"/>
              </p:ext>
            </p:extLst>
          </p:nvPr>
        </p:nvGraphicFramePr>
        <p:xfrm>
          <a:off x="274320" y="822960"/>
          <a:ext cx="8595360" cy="4114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Outil / Technologie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 / Info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Rôle dans le projet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VS Code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1.120.0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IDE Frontend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Spring Boot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3.5.4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Framework Backend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React 19 + TypeScript + Vite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19</a:t>
                      </a: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Framework Frontend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Tauri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1.0.1</a:t>
                      </a: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Packaging Desktop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PostgreSQL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18</a:t>
                      </a: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Base de données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Flyway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13</a:t>
                      </a: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Migration BDD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Postman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12.8.2</a:t>
                      </a: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Test des API 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Git / GitHub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Versionement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Apache Maven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3.9.13</a:t>
                      </a:r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Gestion dépendances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V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Réalisations, limites et évolutions futures</a:t>
            </a:r>
            <a:endParaRPr lang="en-US" sz="1800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livrées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37160" cy="13716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+ 2FA TOTP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137160" cy="13716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CRUD multicritère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37160" cy="13716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63140"/>
            <a:ext cx="35661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 avec quotas et pénalités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137160" cy="13716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 avec file prioritaire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137160" cy="13716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68980"/>
            <a:ext cx="35661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 (Cron 8h00)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137160" cy="13716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71900"/>
            <a:ext cx="35661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+ Desktop (Tauri)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(v2)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137160" cy="13716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280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 via CinetPay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965960"/>
            <a:ext cx="137160" cy="13716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760220"/>
            <a:ext cx="35661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137160" cy="13716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263140"/>
            <a:ext cx="35661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hors-ligne avancée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971800"/>
            <a:ext cx="137160" cy="13716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788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des acquisitions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surmontées : Etats concurrents (transactions atomiques).  Tauri + React (scripts build). TOTP (bibliothèques Java)</a:t>
            </a:r>
            <a:endParaRPr lang="en-US" sz="11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V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d'Evolution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22960"/>
            <a:ext cx="28346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595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recommandation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353312"/>
            <a:ext cx="2615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personnalisées basées sur l'historique d'emprunt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834640" cy="4572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595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353312"/>
            <a:ext cx="2615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L’intégration de Cinetpay pour cotisations et amendes en ligne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22960"/>
            <a:ext cx="2834640" cy="4572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8595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6208" y="1353312"/>
            <a:ext cx="2615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Android/iOS avec scan de codes-barres intégré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880360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880360"/>
            <a:ext cx="28346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169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3410712"/>
            <a:ext cx="2615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Intelligence, graphiques temps réel, aide à la décision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880360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80360"/>
            <a:ext cx="2834640" cy="4572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9169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numériques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3410712"/>
            <a:ext cx="2615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E-books, revues en ligne, gestion des licences d'accès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880360"/>
            <a:ext cx="2834640" cy="4572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169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universitaire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410712"/>
            <a:ext cx="26151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avec le SI de l'ESTA, API passerelle</a:t>
            </a:r>
            <a:endParaRPr lang="en-US" sz="11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solidFill>
            <a:srgbClr val="1E3458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91440" cy="7498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064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atteints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complète, sécurité 2FA, notifications en temps réel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8229600" cy="749808"/>
          </a:xfrm>
          <a:prstGeom prst="rect">
            <a:avLst/>
          </a:prstGeom>
          <a:solidFill>
            <a:srgbClr val="16284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47672"/>
            <a:ext cx="91440" cy="7498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0253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moderne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2257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React + Tauri : flexible, maintenable, évolutif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8229600" cy="749808"/>
          </a:xfrm>
          <a:prstGeom prst="rect">
            <a:avLst/>
          </a:prstGeom>
          <a:solidFill>
            <a:srgbClr val="1E3458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43784"/>
            <a:ext cx="91440" cy="7498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9864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rigoureuse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2186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diagrammes UML couvrant l'ensemble des processus métier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8229600" cy="749808"/>
          </a:xfrm>
          <a:prstGeom prst="rect">
            <a:avLst/>
          </a:prstGeom>
          <a:solidFill>
            <a:srgbClr val="16284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39896"/>
            <a:ext cx="91440" cy="7498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947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déployer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11480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 validés, documentation API, compte admin fourni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1" name="Text 19"/>
          <p:cNvSpPr/>
          <p:nvPr/>
        </p:nvSpPr>
        <p:spPr>
          <a:xfrm>
            <a:off x="274320" y="4727448"/>
            <a:ext cx="8595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40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dur="40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dur="40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dur="40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dur="40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dur="40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dur="40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dur="400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dur="40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dur="40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dur="40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dur="400" nodeType="click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/>
              </p:prev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1227</Words>
  <Application>Microsoft Office PowerPoint</Application>
  <PresentationFormat>Affichage à l'écran (16:9)</PresentationFormat>
  <Paragraphs>264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SIGB - Système Intégré de Gestion de Bibliothèque</dc:title>
  <dc:subject>PptxGenJS Presentation</dc:subject>
  <dc:creator>Ouattara Elvis &amp; Koussoube Drissa</dc:creator>
  <cp:lastModifiedBy>sha yd</cp:lastModifiedBy>
  <cp:revision>31</cp:revision>
  <dcterms:created xsi:type="dcterms:W3CDTF">2026-05-21T11:44:17Z</dcterms:created>
  <dcterms:modified xsi:type="dcterms:W3CDTF">2026-05-26T16:36:37Z</dcterms:modified>
</cp:coreProperties>
</file>